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DD4345-F815-48BF-AF39-29109068FBEB}" v="112" dt="2026-05-11T12:39:35.564"/>
    <p1510:client id="{F357E250-4E68-4409-83B0-8B3A92EBDECE}" v="3" dt="2026-05-11T17:05:34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7524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732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53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210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12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29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696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031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1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263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710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34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345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405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4285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23282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835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5002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48286" y="1015361"/>
            <a:ext cx="7197726" cy="2421464"/>
          </a:xfrm>
        </p:spPr>
        <p:txBody>
          <a:bodyPr/>
          <a:lstStyle/>
          <a:p>
            <a:r>
              <a:rPr lang="fr-FR" dirty="0" err="1">
                <a:latin typeface="Tahoma"/>
                <a:ea typeface="Tahoma"/>
                <a:cs typeface="Tahoma"/>
              </a:rPr>
              <a:t>الفن</a:t>
            </a:r>
            <a:r>
              <a:rPr lang="fr-FR" dirty="0">
                <a:latin typeface="Tahoma"/>
                <a:ea typeface="Tahoma"/>
                <a:cs typeface="Tahoma"/>
              </a:rPr>
              <a:t> و </a:t>
            </a:r>
            <a:r>
              <a:rPr lang="fr-FR" dirty="0" err="1">
                <a:latin typeface="Tahoma"/>
                <a:ea typeface="Tahoma"/>
                <a:cs typeface="Tahoma"/>
              </a:rPr>
              <a:t>الثقافة</a:t>
            </a:r>
            <a:endParaRPr lang="fr-FR">
              <a:latin typeface="Tahoma"/>
              <a:ea typeface="Tahoma"/>
              <a:cs typeface="Tahoma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055962" y="4234642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800" dirty="0" err="1">
                <a:solidFill>
                  <a:schemeClr val="accent1"/>
                </a:solidFill>
                <a:latin typeface="Arial"/>
                <a:ea typeface="+mn-lt"/>
                <a:cs typeface="Arial"/>
              </a:rPr>
              <a:t>بحث</a:t>
            </a:r>
            <a:r>
              <a:rPr lang="fr-FR" sz="2800" dirty="0">
                <a:solidFill>
                  <a:schemeClr val="accent1"/>
                </a:solidFill>
                <a:latin typeface="Arial"/>
                <a:ea typeface="+mn-lt"/>
                <a:cs typeface="Arial"/>
              </a:rPr>
              <a:t> مقدم </a:t>
            </a:r>
            <a:r>
              <a:rPr lang="fr-FR" sz="2800" dirty="0" err="1">
                <a:solidFill>
                  <a:schemeClr val="accent1"/>
                </a:solidFill>
                <a:latin typeface="Arial"/>
                <a:ea typeface="+mn-lt"/>
                <a:cs typeface="Arial"/>
              </a:rPr>
              <a:t>من</a:t>
            </a:r>
            <a:r>
              <a:rPr lang="fr-FR" sz="2800" dirty="0">
                <a:solidFill>
                  <a:schemeClr val="accent1"/>
                </a:solidFill>
                <a:latin typeface="Arial"/>
                <a:ea typeface="+mn-lt"/>
                <a:cs typeface="Arial"/>
              </a:rPr>
              <a:t> </a:t>
            </a:r>
            <a:r>
              <a:rPr lang="fr-FR" sz="2800" dirty="0" err="1">
                <a:solidFill>
                  <a:schemeClr val="accent1"/>
                </a:solidFill>
                <a:latin typeface="Arial"/>
                <a:ea typeface="+mn-lt"/>
                <a:cs typeface="Arial"/>
              </a:rPr>
              <a:t>عدنان</a:t>
            </a:r>
            <a:r>
              <a:rPr lang="fr-FR" sz="2800" dirty="0">
                <a:solidFill>
                  <a:schemeClr val="accent1"/>
                </a:solidFill>
                <a:latin typeface="Arial"/>
                <a:ea typeface="+mn-lt"/>
                <a:cs typeface="Arial"/>
              </a:rPr>
              <a:t> </a:t>
            </a:r>
            <a:r>
              <a:rPr lang="fr-FR" sz="2800" dirty="0" err="1">
                <a:solidFill>
                  <a:schemeClr val="accent1"/>
                </a:solidFill>
                <a:latin typeface="Arial"/>
                <a:ea typeface="+mn-lt"/>
                <a:cs typeface="Arial"/>
              </a:rPr>
              <a:t>أوحكى</a:t>
            </a:r>
            <a:endParaRPr lang="fr-FR" sz="2800" dirty="0" err="1">
              <a:solidFill>
                <a:schemeClr val="accent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DB7864-84A4-708C-77D1-162D6C022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sz="4800" dirty="0" err="1">
                <a:latin typeface="Tahoma"/>
                <a:ea typeface="Tahoma"/>
                <a:cs typeface="Tahoma"/>
              </a:rPr>
              <a:t>الفن</a:t>
            </a:r>
            <a:endParaRPr lang="fr-FR" dirty="0" err="1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FB7A27-FF9A-7AAC-6635-558C2E054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070179"/>
            <a:ext cx="10303953" cy="3548492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fr-FR" sz="3200" b="1" dirty="0" err="1">
                <a:latin typeface="Roboto"/>
                <a:ea typeface="Roboto"/>
                <a:cs typeface="Roboto"/>
              </a:rPr>
              <a:t>الفن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هو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شكل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من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أشكال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التعبير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الإنساني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الذي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ينقل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الأفكار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والمشاعر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والأحاسيس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بوسائل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إبداعية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متنوعة</a:t>
            </a:r>
            <a:r>
              <a:rPr lang="fr-FR" sz="3200" dirty="0">
                <a:latin typeface="Roboto"/>
                <a:ea typeface="Roboto"/>
                <a:cs typeface="Roboto"/>
              </a:rPr>
              <a:t>.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يمكن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تقسيم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الفن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إلى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عدة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مجالات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رئيسية</a:t>
            </a:r>
            <a:endParaRPr lang="fr-FR" sz="3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2842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2FA42D-936B-1304-E2AD-F2DE9AF7F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err="1">
                <a:ea typeface="+mj-lt"/>
                <a:cs typeface="+mj-lt"/>
              </a:rPr>
              <a:t>أنواع</a:t>
            </a:r>
            <a:r>
              <a:rPr lang="fr-FR">
                <a:ea typeface="+mj-lt"/>
                <a:cs typeface="+mj-lt"/>
              </a:rPr>
              <a:t> </a:t>
            </a:r>
            <a:r>
              <a:rPr lang="fr-FR" err="1">
                <a:ea typeface="+mj-lt"/>
                <a:cs typeface="+mj-lt"/>
              </a:rPr>
              <a:t>الفن</a:t>
            </a:r>
            <a:endParaRPr lang="fr-FR" err="1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2668DC-9D7B-E7C5-E3D2-CDF8F8226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/>
            <a:r>
              <a:rPr lang="fr-FR" sz="1400" b="1" dirty="0" err="1">
                <a:latin typeface="Roboto"/>
                <a:ea typeface="Roboto"/>
                <a:cs typeface="Roboto"/>
              </a:rPr>
              <a:t>ال</a:t>
            </a:r>
            <a:r>
              <a:rPr lang="fr-FR" sz="2000" b="1" dirty="0" err="1">
                <a:latin typeface="Roboto"/>
                <a:ea typeface="Roboto"/>
                <a:cs typeface="Roboto"/>
              </a:rPr>
              <a:t>فن</a:t>
            </a:r>
            <a:r>
              <a:rPr lang="fr-FR" sz="2000" b="1" dirty="0">
                <a:latin typeface="Roboto"/>
                <a:ea typeface="Roboto"/>
                <a:cs typeface="Roboto"/>
              </a:rPr>
              <a:t> </a:t>
            </a:r>
            <a:r>
              <a:rPr lang="fr-FR" sz="2000" b="1" dirty="0" err="1">
                <a:latin typeface="Roboto"/>
                <a:ea typeface="Roboto"/>
                <a:cs typeface="Roboto"/>
              </a:rPr>
              <a:t>البصري</a:t>
            </a:r>
            <a:r>
              <a:rPr lang="fr-FR" sz="2000" b="1" dirty="0">
                <a:latin typeface="Roboto"/>
                <a:ea typeface="Roboto"/>
                <a:cs typeface="Roboto"/>
              </a:rPr>
              <a:t>: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يشمل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الرسم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والنحت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والتصوير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الفوتوغرافي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والفنون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الرقمية</a:t>
            </a:r>
            <a:r>
              <a:rPr lang="fr-FR" sz="2000" dirty="0">
                <a:latin typeface="Roboto"/>
                <a:ea typeface="Roboto"/>
                <a:cs typeface="Roboto"/>
              </a:rPr>
              <a:t>،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ويعتمد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على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المنظر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والجماليات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البصرية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للتواصل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مع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المتلقي</a:t>
            </a:r>
            <a:r>
              <a:rPr lang="fr-FR" sz="2000" dirty="0">
                <a:latin typeface="Roboto"/>
                <a:ea typeface="Roboto"/>
                <a:cs typeface="Roboto"/>
              </a:rPr>
              <a:t>.</a:t>
            </a:r>
            <a:endParaRPr lang="fr-FR" sz="2000">
              <a:ea typeface="Calibri" panose="020F0502020204030204"/>
              <a:cs typeface="Calibri" panose="020F0502020204030204"/>
            </a:endParaRPr>
          </a:p>
          <a:p>
            <a:pPr algn="r">
              <a:buClr>
                <a:srgbClr val="FFFFFF"/>
              </a:buClr>
            </a:pPr>
            <a:r>
              <a:rPr lang="fr-FR" sz="2000" b="1" dirty="0" err="1">
                <a:latin typeface="Roboto"/>
                <a:ea typeface="Roboto"/>
                <a:cs typeface="Roboto"/>
              </a:rPr>
              <a:t>الفن</a:t>
            </a:r>
            <a:r>
              <a:rPr lang="fr-FR" sz="2000" b="1" dirty="0">
                <a:latin typeface="Roboto"/>
                <a:ea typeface="Roboto"/>
                <a:cs typeface="Roboto"/>
              </a:rPr>
              <a:t> </a:t>
            </a:r>
            <a:r>
              <a:rPr lang="fr-FR" sz="2000" b="1" dirty="0" err="1">
                <a:latin typeface="Roboto"/>
                <a:ea typeface="Roboto"/>
                <a:cs typeface="Roboto"/>
              </a:rPr>
              <a:t>الأدائي</a:t>
            </a:r>
            <a:r>
              <a:rPr lang="fr-FR" sz="2000" b="1" dirty="0">
                <a:latin typeface="Roboto"/>
                <a:ea typeface="Roboto"/>
                <a:cs typeface="Roboto"/>
              </a:rPr>
              <a:t>: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مثل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المسرح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والرقص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والأداء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الموسيقي</a:t>
            </a:r>
            <a:r>
              <a:rPr lang="fr-FR" sz="2000" dirty="0">
                <a:latin typeface="Roboto"/>
                <a:ea typeface="Roboto"/>
                <a:cs typeface="Roboto"/>
              </a:rPr>
              <a:t>،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حيث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يقوم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الفنان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بنقل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الرسالة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من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خلال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الحركة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أو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الصوت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أو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الأداء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المباشر</a:t>
            </a:r>
            <a:r>
              <a:rPr lang="fr-FR" sz="2000" dirty="0">
                <a:latin typeface="Roboto"/>
                <a:ea typeface="Roboto"/>
                <a:cs typeface="Roboto"/>
              </a:rPr>
              <a:t>.</a:t>
            </a:r>
            <a:endParaRPr lang="fr-FR" sz="2000">
              <a:ea typeface="Calibri" panose="020F0502020204030204"/>
              <a:cs typeface="Calibri" panose="020F0502020204030204"/>
            </a:endParaRPr>
          </a:p>
          <a:p>
            <a:pPr algn="r">
              <a:buClr>
                <a:srgbClr val="FFFFFF"/>
              </a:buClr>
            </a:pPr>
            <a:r>
              <a:rPr lang="fr-FR" sz="2000" b="1" dirty="0" err="1">
                <a:latin typeface="Roboto"/>
                <a:ea typeface="Roboto"/>
                <a:cs typeface="Roboto"/>
              </a:rPr>
              <a:t>الأدب</a:t>
            </a:r>
            <a:r>
              <a:rPr lang="fr-FR" sz="2000" b="1" dirty="0">
                <a:latin typeface="Roboto"/>
                <a:ea typeface="Roboto"/>
                <a:cs typeface="Roboto"/>
              </a:rPr>
              <a:t> </a:t>
            </a:r>
            <a:r>
              <a:rPr lang="fr-FR" sz="2000" b="1" dirty="0" err="1">
                <a:latin typeface="Roboto"/>
                <a:ea typeface="Roboto"/>
                <a:cs typeface="Roboto"/>
              </a:rPr>
              <a:t>والشعر</a:t>
            </a:r>
            <a:r>
              <a:rPr lang="fr-FR" sz="2000" b="1" dirty="0">
                <a:latin typeface="Roboto"/>
                <a:ea typeface="Roboto"/>
                <a:cs typeface="Roboto"/>
              </a:rPr>
              <a:t>: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لغة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مكتوبة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أو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منطوقة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تستخدم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الرموز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والكلمات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لنقل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المشاعر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والأفكار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والقصص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الثقافية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والتاريخية</a:t>
            </a:r>
            <a:r>
              <a:rPr lang="fr-FR" sz="2000" dirty="0">
                <a:latin typeface="Roboto"/>
                <a:ea typeface="Roboto"/>
                <a:cs typeface="Roboto"/>
              </a:rPr>
              <a:t>.</a:t>
            </a:r>
            <a:endParaRPr lang="fr-FR" sz="2000">
              <a:ea typeface="Calibri" panose="020F0502020204030204"/>
              <a:cs typeface="Calibri" panose="020F0502020204030204"/>
            </a:endParaRPr>
          </a:p>
          <a:p>
            <a:pPr algn="r">
              <a:buClr>
                <a:srgbClr val="FFFFFF"/>
              </a:buClr>
            </a:pPr>
            <a:r>
              <a:rPr lang="fr-FR" sz="2000" b="1" dirty="0" err="1">
                <a:latin typeface="Roboto"/>
                <a:ea typeface="Roboto"/>
                <a:cs typeface="Roboto"/>
              </a:rPr>
              <a:t>السينما</a:t>
            </a:r>
            <a:r>
              <a:rPr lang="fr-FR" sz="2000" b="1" dirty="0">
                <a:latin typeface="Roboto"/>
                <a:ea typeface="Roboto"/>
                <a:cs typeface="Roboto"/>
              </a:rPr>
              <a:t> </a:t>
            </a:r>
            <a:r>
              <a:rPr lang="fr-FR" sz="2000" b="1" dirty="0" err="1">
                <a:latin typeface="Roboto"/>
                <a:ea typeface="Roboto"/>
                <a:cs typeface="Roboto"/>
              </a:rPr>
              <a:t>والفنون</a:t>
            </a:r>
            <a:r>
              <a:rPr lang="fr-FR" sz="2000" b="1" dirty="0">
                <a:latin typeface="Roboto"/>
                <a:ea typeface="Roboto"/>
                <a:cs typeface="Roboto"/>
              </a:rPr>
              <a:t> </a:t>
            </a:r>
            <a:r>
              <a:rPr lang="fr-FR" sz="2000" b="1" dirty="0" err="1">
                <a:latin typeface="Roboto"/>
                <a:ea typeface="Roboto"/>
                <a:cs typeface="Roboto"/>
              </a:rPr>
              <a:t>السمعية</a:t>
            </a:r>
            <a:r>
              <a:rPr lang="fr-FR" sz="2000" b="1" dirty="0">
                <a:latin typeface="Roboto"/>
                <a:ea typeface="Roboto"/>
                <a:cs typeface="Roboto"/>
              </a:rPr>
              <a:t> </a:t>
            </a:r>
            <a:r>
              <a:rPr lang="fr-FR" sz="2000" b="1" dirty="0" err="1">
                <a:latin typeface="Roboto"/>
                <a:ea typeface="Roboto"/>
                <a:cs typeface="Roboto"/>
              </a:rPr>
              <a:t>والبصرية</a:t>
            </a:r>
            <a:r>
              <a:rPr lang="fr-FR" sz="2000" b="1" dirty="0">
                <a:latin typeface="Roboto"/>
                <a:ea typeface="Roboto"/>
                <a:cs typeface="Roboto"/>
              </a:rPr>
              <a:t>: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تجمع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بين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الصورة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والموسيقى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والقصص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لتقديم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تجربة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متكاملة</a:t>
            </a:r>
            <a:r>
              <a:rPr lang="fr-FR" sz="2000" dirty="0">
                <a:latin typeface="Roboto"/>
                <a:ea typeface="Roboto"/>
                <a:cs typeface="Roboto"/>
              </a:rPr>
              <a:t> </a:t>
            </a:r>
            <a:r>
              <a:rPr lang="fr-FR" sz="2000" dirty="0" err="1">
                <a:latin typeface="Roboto"/>
                <a:ea typeface="Roboto"/>
                <a:cs typeface="Roboto"/>
              </a:rPr>
              <a:t>للمشاهد</a:t>
            </a:r>
            <a:r>
              <a:rPr lang="fr-FR" sz="2000" dirty="0">
                <a:latin typeface="Roboto"/>
                <a:ea typeface="Roboto"/>
                <a:cs typeface="Roboto"/>
              </a:rPr>
              <a:t>.</a:t>
            </a:r>
            <a:endParaRPr lang="fr-FR" sz="2000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fr-FR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2217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560CAD-B689-5D1F-8AF3-8603E330F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 err="1">
                <a:latin typeface="Roboto"/>
                <a:ea typeface="Roboto"/>
                <a:cs typeface="Roboto"/>
              </a:rPr>
              <a:t>الثقافة</a:t>
            </a:r>
            <a:endParaRPr lang="fr-FR" dirty="0" err="1">
              <a:ea typeface="Calibri Light" panose="020F0302020204030204"/>
              <a:cs typeface="Calibri Light" panose="020F0302020204030204"/>
            </a:endParaRPr>
          </a:p>
          <a:p>
            <a:endParaRPr lang="fr-FR" dirty="0">
              <a:ea typeface="Calibri Light"/>
              <a:cs typeface="Calibri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8EF999-5AF3-1F56-8FAC-851F84548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/>
            <a:r>
              <a:rPr lang="fr-FR" sz="3200" b="1" dirty="0" err="1">
                <a:latin typeface="Roboto"/>
                <a:ea typeface="Roboto"/>
                <a:cs typeface="Roboto"/>
              </a:rPr>
              <a:t>الثقافة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تشير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إلى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مجموع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الأفكار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والمعتقدات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والقيم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والعادات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والتقاليد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والفنون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التي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تنتقل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بين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الأجيال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وتشكل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جزءًا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من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هوية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المجتمع</a:t>
            </a:r>
            <a:r>
              <a:rPr lang="fr-FR" sz="3200" dirty="0">
                <a:latin typeface="Roboto"/>
                <a:ea typeface="Roboto"/>
                <a:cs typeface="Roboto"/>
              </a:rPr>
              <a:t>.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وتشمل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الثقافة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عدة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جوانب</a:t>
            </a:r>
            <a:endParaRPr lang="fr-FR" sz="3200" dirty="0" err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7754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B08C15-CAD6-2065-C905-1A15BF75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 err="1">
                <a:ea typeface="+mj-lt"/>
                <a:cs typeface="+mj-lt"/>
              </a:rPr>
              <a:t>أنواع</a:t>
            </a:r>
            <a:r>
              <a:rPr lang="fr-FR" dirty="0">
                <a:ea typeface="+mj-lt"/>
                <a:cs typeface="+mj-lt"/>
              </a:rPr>
              <a:t> </a:t>
            </a:r>
            <a:r>
              <a:rPr lang="fr-FR" dirty="0" err="1">
                <a:ea typeface="+mj-lt"/>
                <a:cs typeface="+mj-lt"/>
              </a:rPr>
              <a:t>الثقافة</a:t>
            </a:r>
            <a:endParaRPr lang="fr-FR" dirty="0" err="1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EDD60-8DEC-8C8E-F681-5EB5595F2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>
              <a:buClr>
                <a:srgbClr val="FFFFFF"/>
              </a:buClr>
            </a:pPr>
            <a:r>
              <a:rPr lang="fr-FR" sz="3200" b="1" dirty="0" err="1">
                <a:latin typeface="Roboto"/>
                <a:ea typeface="Roboto"/>
                <a:cs typeface="Roboto"/>
              </a:rPr>
              <a:t>الثقافة</a:t>
            </a:r>
            <a:r>
              <a:rPr lang="fr-FR" sz="3200" b="1" dirty="0">
                <a:latin typeface="Roboto"/>
                <a:ea typeface="Roboto"/>
                <a:cs typeface="Roboto"/>
              </a:rPr>
              <a:t> </a:t>
            </a:r>
            <a:r>
              <a:rPr lang="fr-FR" sz="3200" b="1" dirty="0" err="1">
                <a:latin typeface="Roboto"/>
                <a:ea typeface="Roboto"/>
                <a:cs typeface="Roboto"/>
              </a:rPr>
              <a:t>المادية</a:t>
            </a:r>
            <a:r>
              <a:rPr lang="fr-FR" sz="3200" b="1" dirty="0">
                <a:latin typeface="Roboto"/>
                <a:ea typeface="Roboto"/>
                <a:cs typeface="Roboto"/>
              </a:rPr>
              <a:t>: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مثل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الفنون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المعمارية</a:t>
            </a:r>
            <a:r>
              <a:rPr lang="fr-FR" sz="3200" dirty="0">
                <a:latin typeface="Roboto"/>
                <a:ea typeface="Roboto"/>
                <a:cs typeface="Roboto"/>
              </a:rPr>
              <a:t>،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الملابس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التقليدية</a:t>
            </a:r>
            <a:r>
              <a:rPr lang="fr-FR" sz="3200" dirty="0">
                <a:latin typeface="Roboto"/>
                <a:ea typeface="Roboto"/>
                <a:cs typeface="Roboto"/>
              </a:rPr>
              <a:t>،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والحرف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اليدوية</a:t>
            </a:r>
            <a:r>
              <a:rPr lang="fr-FR" sz="3200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.</a:t>
            </a:r>
            <a:endParaRPr lang="fr-FR" sz="3200">
              <a:latin typeface="Calibri"/>
              <a:ea typeface="Calibri"/>
              <a:cs typeface="Calibri"/>
            </a:endParaRPr>
          </a:p>
          <a:p>
            <a:pPr algn="r">
              <a:buClr>
                <a:srgbClr val="FFFFFF"/>
              </a:buClr>
            </a:pPr>
            <a:r>
              <a:rPr lang="fr-FR" sz="3200" b="1" dirty="0" err="1">
                <a:latin typeface="Roboto"/>
                <a:ea typeface="Roboto"/>
                <a:cs typeface="Roboto"/>
              </a:rPr>
              <a:t>الثقافة</a:t>
            </a:r>
            <a:r>
              <a:rPr lang="fr-FR" sz="3200" b="1" dirty="0">
                <a:latin typeface="Roboto"/>
                <a:ea typeface="Roboto"/>
                <a:cs typeface="Roboto"/>
              </a:rPr>
              <a:t> </a:t>
            </a:r>
            <a:r>
              <a:rPr lang="fr-FR" sz="3200" b="1" dirty="0" err="1">
                <a:latin typeface="Roboto"/>
                <a:ea typeface="Roboto"/>
                <a:cs typeface="Roboto"/>
              </a:rPr>
              <a:t>الرمزية</a:t>
            </a:r>
            <a:r>
              <a:rPr lang="fr-FR" sz="3200" b="1" dirty="0">
                <a:latin typeface="Roboto"/>
                <a:ea typeface="Roboto"/>
                <a:cs typeface="Roboto"/>
              </a:rPr>
              <a:t> </a:t>
            </a:r>
            <a:r>
              <a:rPr lang="fr-FR" sz="3200" b="1" dirty="0" err="1">
                <a:latin typeface="Roboto"/>
                <a:ea typeface="Roboto"/>
                <a:cs typeface="Roboto"/>
              </a:rPr>
              <a:t>والمعنوية</a:t>
            </a:r>
            <a:r>
              <a:rPr lang="fr-FR" sz="3200" b="1" dirty="0">
                <a:latin typeface="Roboto"/>
                <a:ea typeface="Roboto"/>
                <a:cs typeface="Roboto"/>
              </a:rPr>
              <a:t>: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مثل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اللغة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والدين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والموسيقى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والأدب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والفلسفة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والتقاليد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الاجتماعية</a:t>
            </a:r>
            <a:r>
              <a:rPr lang="fr-FR" sz="3200" dirty="0">
                <a:latin typeface="Roboto"/>
                <a:ea typeface="Roboto"/>
                <a:cs typeface="Roboto"/>
              </a:rPr>
              <a:t>.</a:t>
            </a:r>
            <a:endParaRPr lang="fr-FR" sz="3200">
              <a:latin typeface="Calibri"/>
              <a:ea typeface="Calibri"/>
              <a:cs typeface="Calibri"/>
            </a:endParaRPr>
          </a:p>
          <a:p>
            <a:pPr algn="r">
              <a:buClr>
                <a:srgbClr val="FFFFFF"/>
              </a:buClr>
            </a:pPr>
            <a:r>
              <a:rPr lang="fr-FR" sz="3200" b="1" dirty="0" err="1">
                <a:latin typeface="Roboto"/>
                <a:ea typeface="Roboto"/>
                <a:cs typeface="Roboto"/>
              </a:rPr>
              <a:t>الثقافة</a:t>
            </a:r>
            <a:r>
              <a:rPr lang="fr-FR" sz="3200" b="1" dirty="0">
                <a:latin typeface="Roboto"/>
                <a:ea typeface="Roboto"/>
                <a:cs typeface="Roboto"/>
              </a:rPr>
              <a:t> </a:t>
            </a:r>
            <a:r>
              <a:rPr lang="fr-FR" sz="3200" b="1" dirty="0" err="1">
                <a:latin typeface="Roboto"/>
                <a:ea typeface="Roboto"/>
                <a:cs typeface="Roboto"/>
              </a:rPr>
              <a:t>الشعبية</a:t>
            </a:r>
            <a:r>
              <a:rPr lang="fr-FR" sz="3200" b="1" dirty="0">
                <a:latin typeface="Roboto"/>
                <a:ea typeface="Roboto"/>
                <a:cs typeface="Roboto"/>
              </a:rPr>
              <a:t> </a:t>
            </a:r>
            <a:r>
              <a:rPr lang="fr-FR" sz="3200" b="1" dirty="0" err="1">
                <a:latin typeface="Roboto"/>
                <a:ea typeface="Roboto"/>
                <a:cs typeface="Roboto"/>
              </a:rPr>
              <a:t>والتراثية</a:t>
            </a:r>
            <a:r>
              <a:rPr lang="fr-FR" sz="3200" b="1" dirty="0">
                <a:latin typeface="Roboto"/>
                <a:ea typeface="Roboto"/>
                <a:cs typeface="Roboto"/>
              </a:rPr>
              <a:t>: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التي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تشمل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الممارسات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اليومية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والمهرجانات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والأمثال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الشعبية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والحكايات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الشفهية</a:t>
            </a:r>
            <a:r>
              <a:rPr lang="fr-FR" sz="3200" dirty="0">
                <a:latin typeface="Roboto"/>
                <a:ea typeface="Roboto"/>
                <a:cs typeface="Roboto"/>
              </a:rPr>
              <a:t>،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وهي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غنية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بالرموز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والمعاني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المرتبطة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بالهوية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المحلية</a:t>
            </a:r>
            <a:r>
              <a:rPr lang="fr-FR" sz="3200" dirty="0">
                <a:latin typeface="Roboto"/>
                <a:ea typeface="Roboto"/>
                <a:cs typeface="Roboto"/>
              </a:rPr>
              <a:t>.</a:t>
            </a:r>
            <a:endParaRPr lang="fr-FR" sz="3200">
              <a:ea typeface="Calibri" panose="020F0502020204030204"/>
              <a:cs typeface="Calibri" panose="020F0502020204030204"/>
            </a:endParaRPr>
          </a:p>
          <a:p>
            <a:pPr algn="r">
              <a:buClr>
                <a:srgbClr val="FFFFFF"/>
              </a:buClr>
            </a:pPr>
            <a:endParaRPr lang="fr-FR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0392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EE60EA-45D1-EA69-6D6F-024F5EBB8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latin typeface="Roboto"/>
                <a:ea typeface="Roboto"/>
                <a:cs typeface="Roboto"/>
              </a:rPr>
              <a:t>السياق</a:t>
            </a:r>
            <a:r>
              <a:rPr lang="fr-FR" dirty="0">
                <a:latin typeface="Roboto"/>
                <a:ea typeface="Roboto"/>
                <a:cs typeface="Roboto"/>
              </a:rPr>
              <a:t> </a:t>
            </a:r>
            <a:r>
              <a:rPr lang="fr-FR" dirty="0" err="1">
                <a:latin typeface="Roboto"/>
                <a:ea typeface="Roboto"/>
                <a:cs typeface="Roboto"/>
              </a:rPr>
              <a:t>المغربي</a:t>
            </a:r>
            <a:endParaRPr lang="fr-FR" dirty="0" err="1"/>
          </a:p>
          <a:p>
            <a:endParaRPr lang="fr-FR" dirty="0">
              <a:ea typeface="Calibri Light"/>
              <a:cs typeface="Calibri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238856-D85D-1A69-0F78-35149703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br>
              <a:rPr lang="en-US" sz="3200" dirty="0"/>
            </a:br>
            <a:r>
              <a:rPr lang="fr-FR" sz="3200" dirty="0" err="1">
                <a:latin typeface="Roboto"/>
                <a:ea typeface="Roboto"/>
                <a:cs typeface="Roboto"/>
              </a:rPr>
              <a:t>المغرب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غني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بالفنون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والثقافة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من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خلال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الموسيقى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الأندلسية</a:t>
            </a:r>
            <a:r>
              <a:rPr lang="fr-FR" sz="3200" dirty="0">
                <a:latin typeface="Roboto"/>
                <a:ea typeface="Roboto"/>
                <a:cs typeface="Roboto"/>
              </a:rPr>
              <a:t>،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والمسرح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التقليدي</a:t>
            </a:r>
            <a:r>
              <a:rPr lang="fr-FR" sz="3200" dirty="0">
                <a:latin typeface="Roboto"/>
                <a:ea typeface="Roboto"/>
                <a:cs typeface="Roboto"/>
              </a:rPr>
              <a:t>،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والحرف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اليدوية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مثل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الفسيفساء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والنسيج</a:t>
            </a:r>
            <a:r>
              <a:rPr lang="fr-FR" sz="3200" dirty="0">
                <a:latin typeface="Roboto"/>
                <a:ea typeface="Roboto"/>
                <a:cs typeface="Roboto"/>
              </a:rPr>
              <a:t>،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فضلاً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عن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الأدب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والشعر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الشعبي</a:t>
            </a:r>
            <a:r>
              <a:rPr lang="fr-FR" sz="3200" dirty="0">
                <a:latin typeface="Roboto"/>
                <a:ea typeface="Roboto"/>
                <a:cs typeface="Roboto"/>
              </a:rPr>
              <a:t>.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الثقافة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المغربية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تمثل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مزيجًا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من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التأثيرات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الأمازيغية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والعربية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والأندلسية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والأفريقية</a:t>
            </a:r>
            <a:r>
              <a:rPr lang="fr-FR" sz="3200" dirty="0">
                <a:latin typeface="Roboto"/>
                <a:ea typeface="Roboto"/>
                <a:cs typeface="Roboto"/>
              </a:rPr>
              <a:t>،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ما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يجعل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الفن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المغربي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معبرًا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عن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تنوع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وغنى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التراث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المغربي</a:t>
            </a:r>
            <a:r>
              <a:rPr lang="fr-FR" sz="3200" dirty="0">
                <a:latin typeface="Roboto"/>
                <a:ea typeface="Roboto"/>
                <a:cs typeface="Roboto"/>
              </a:rPr>
              <a:t>.</a:t>
            </a:r>
            <a:endParaRPr lang="fr-FR" sz="320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fr-FR" sz="3200" dirty="0" err="1">
                <a:latin typeface="Roboto"/>
                <a:ea typeface="Roboto"/>
                <a:cs typeface="Roboto"/>
              </a:rPr>
              <a:t>باختصار</a:t>
            </a:r>
            <a:r>
              <a:rPr lang="fr-FR" sz="3200" dirty="0">
                <a:latin typeface="Roboto"/>
                <a:ea typeface="Roboto"/>
                <a:cs typeface="Roboto"/>
              </a:rPr>
              <a:t>، </a:t>
            </a:r>
            <a:r>
              <a:rPr lang="fr-FR" sz="3200" b="1" dirty="0" err="1">
                <a:latin typeface="Roboto"/>
                <a:ea typeface="Roboto"/>
                <a:cs typeface="Roboto"/>
              </a:rPr>
              <a:t>الفن</a:t>
            </a:r>
            <a:r>
              <a:rPr lang="fr-FR" sz="3200" b="1" dirty="0">
                <a:latin typeface="Roboto"/>
                <a:ea typeface="Roboto"/>
                <a:cs typeface="Roboto"/>
              </a:rPr>
              <a:t> </a:t>
            </a:r>
            <a:r>
              <a:rPr lang="fr-FR" sz="3200" b="1" dirty="0" err="1">
                <a:latin typeface="Roboto"/>
                <a:ea typeface="Roboto"/>
                <a:cs typeface="Roboto"/>
              </a:rPr>
              <a:t>والثقافة</a:t>
            </a:r>
            <a:r>
              <a:rPr lang="fr-FR" sz="3200" b="1" dirty="0">
                <a:latin typeface="Roboto"/>
                <a:ea typeface="Roboto"/>
                <a:cs typeface="Roboto"/>
              </a:rPr>
              <a:t> </a:t>
            </a:r>
            <a:r>
              <a:rPr lang="fr-FR" sz="3200" b="1" dirty="0" err="1">
                <a:latin typeface="Roboto"/>
                <a:ea typeface="Roboto"/>
                <a:cs typeface="Roboto"/>
              </a:rPr>
              <a:t>عنصران</a:t>
            </a:r>
            <a:r>
              <a:rPr lang="fr-FR" sz="3200" b="1" dirty="0">
                <a:latin typeface="Roboto"/>
                <a:ea typeface="Roboto"/>
                <a:cs typeface="Roboto"/>
              </a:rPr>
              <a:t> </a:t>
            </a:r>
            <a:r>
              <a:rPr lang="fr-FR" sz="3200" b="1" dirty="0" err="1">
                <a:latin typeface="Roboto"/>
                <a:ea typeface="Roboto"/>
                <a:cs typeface="Roboto"/>
              </a:rPr>
              <a:t>مترابطان</a:t>
            </a:r>
            <a:r>
              <a:rPr lang="fr-FR" sz="3200" b="1" dirty="0">
                <a:latin typeface="Roboto"/>
                <a:ea typeface="Roboto"/>
                <a:cs typeface="Roboto"/>
              </a:rPr>
              <a:t> </a:t>
            </a:r>
            <a:r>
              <a:rPr lang="fr-FR" sz="3200" b="1" dirty="0" err="1">
                <a:latin typeface="Roboto"/>
                <a:ea typeface="Roboto"/>
                <a:cs typeface="Roboto"/>
              </a:rPr>
              <a:t>يشكلان</a:t>
            </a:r>
            <a:r>
              <a:rPr lang="fr-FR" sz="3200" b="1" dirty="0">
                <a:latin typeface="Roboto"/>
                <a:ea typeface="Roboto"/>
                <a:cs typeface="Roboto"/>
              </a:rPr>
              <a:t> </a:t>
            </a:r>
            <a:r>
              <a:rPr lang="fr-FR" sz="3200" b="1" dirty="0" err="1">
                <a:latin typeface="Roboto"/>
                <a:ea typeface="Roboto"/>
                <a:cs typeface="Roboto"/>
              </a:rPr>
              <a:t>هوية</a:t>
            </a:r>
            <a:r>
              <a:rPr lang="fr-FR" sz="3200" b="1" dirty="0">
                <a:latin typeface="Roboto"/>
                <a:ea typeface="Roboto"/>
                <a:cs typeface="Roboto"/>
              </a:rPr>
              <a:t> </a:t>
            </a:r>
            <a:r>
              <a:rPr lang="fr-FR" sz="3200" b="1" dirty="0" err="1">
                <a:latin typeface="Roboto"/>
                <a:ea typeface="Roboto"/>
                <a:cs typeface="Roboto"/>
              </a:rPr>
              <a:t>الأفراد</a:t>
            </a:r>
            <a:r>
              <a:rPr lang="fr-FR" sz="3200" b="1" dirty="0">
                <a:latin typeface="Roboto"/>
                <a:ea typeface="Roboto"/>
                <a:cs typeface="Roboto"/>
              </a:rPr>
              <a:t> </a:t>
            </a:r>
            <a:r>
              <a:rPr lang="fr-FR" sz="3200" b="1" dirty="0" err="1">
                <a:latin typeface="Roboto"/>
                <a:ea typeface="Roboto"/>
                <a:cs typeface="Roboto"/>
              </a:rPr>
              <a:t>والمجتمع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ويعكسان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الإبداع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والتاريخ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والتقاليد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المشتركة</a:t>
            </a:r>
            <a:r>
              <a:rPr lang="fr-FR" sz="3200" dirty="0">
                <a:latin typeface="Roboto"/>
                <a:ea typeface="Roboto"/>
                <a:cs typeface="Roboto"/>
              </a:rPr>
              <a:t>،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ويتيحان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للأجيال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التواصل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مع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الماضي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والحاضر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وإغناء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التجربة</a:t>
            </a:r>
            <a:r>
              <a:rPr lang="fr-FR" sz="3200" dirty="0">
                <a:latin typeface="Roboto"/>
                <a:ea typeface="Roboto"/>
                <a:cs typeface="Roboto"/>
              </a:rPr>
              <a:t> </a:t>
            </a:r>
            <a:r>
              <a:rPr lang="fr-FR" sz="3200" dirty="0" err="1">
                <a:latin typeface="Roboto"/>
                <a:ea typeface="Roboto"/>
                <a:cs typeface="Roboto"/>
              </a:rPr>
              <a:t>الإنسانية</a:t>
            </a:r>
            <a:r>
              <a:rPr lang="fr-FR" sz="3200" dirty="0">
                <a:latin typeface="Roboto"/>
                <a:ea typeface="Roboto"/>
                <a:cs typeface="Roboto"/>
              </a:rPr>
              <a:t>.</a:t>
            </a:r>
            <a:endParaRPr lang="fr-FR" sz="3200">
              <a:ea typeface="Calibri"/>
              <a:cs typeface="Calibri"/>
            </a:endParaRPr>
          </a:p>
          <a:p>
            <a:pPr algn="ctr">
              <a:buClr>
                <a:srgbClr val="FFFFFF"/>
              </a:buClr>
            </a:pPr>
            <a:br>
              <a:rPr lang="en-US" dirty="0"/>
            </a:br>
            <a:endParaRPr lang="en-US" dirty="0"/>
          </a:p>
          <a:p>
            <a:pPr algn="r">
              <a:buClr>
                <a:srgbClr val="FFFFFF"/>
              </a:buClr>
            </a:pPr>
            <a:endParaRPr lang="fr-FR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22949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BEA9AF1-EF35-4EC4-862B-93C14919B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pic>
        <p:nvPicPr>
          <p:cNvPr id="2" name="Image 1" descr="Une image contenant texte, dessin humoristique, clipart, graphisme&#10;&#10;Le contenu généré par l’IA peut être incorrect.">
            <a:extLst>
              <a:ext uri="{FF2B5EF4-FFF2-40B4-BE49-F238E27FC236}">
                <a16:creationId xmlns:a16="http://schemas.microsoft.com/office/drawing/2014/main" id="{0CCE164B-9F6F-0729-7F63-A4C9407FCD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657" b="2460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58F9C45-4BB9-0D2B-FBAB-ED10909AE06F}"/>
              </a:ext>
            </a:extLst>
          </p:cNvPr>
          <p:cNvSpPr txBox="1"/>
          <p:nvPr/>
        </p:nvSpPr>
        <p:spPr>
          <a:xfrm>
            <a:off x="866588" y="552823"/>
            <a:ext cx="1074270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600"/>
              </a:spcAft>
            </a:pPr>
            <a:endParaRPr lang="fr-FR"/>
          </a:p>
          <a:p>
            <a:pPr>
              <a:spcAft>
                <a:spcPts val="600"/>
              </a:spcAft>
            </a:pPr>
            <a:endParaRPr lang="fr-FR"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endParaRPr lang="fr-FR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917644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Celestial</vt:lpstr>
      <vt:lpstr>الفن و الثقافة</vt:lpstr>
      <vt:lpstr>الفن</vt:lpstr>
      <vt:lpstr>أنواع الفن</vt:lpstr>
      <vt:lpstr>الثقافة </vt:lpstr>
      <vt:lpstr>أنواع الثقافة</vt:lpstr>
      <vt:lpstr>السياق المغربي 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107</cp:revision>
  <dcterms:created xsi:type="dcterms:W3CDTF">2026-05-11T11:46:54Z</dcterms:created>
  <dcterms:modified xsi:type="dcterms:W3CDTF">2026-05-11T17:06:34Z</dcterms:modified>
</cp:coreProperties>
</file>